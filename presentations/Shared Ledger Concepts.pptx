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1" r:id="rId3"/>
    <p:sldId id="263" r:id="rId4"/>
    <p:sldId id="264" r:id="rId5"/>
    <p:sldId id="266" r:id="rId6"/>
  </p:sldIdLst>
  <p:sldSz cx="14630400" cy="8229600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479">
          <p15:clr>
            <a:srgbClr val="547EBF"/>
          </p15:clr>
        </p15:guide>
        <p15:guide id="2" pos="4631">
          <p15:clr>
            <a:srgbClr val="547EBF"/>
          </p15:clr>
        </p15:guide>
        <p15:guide id="3" pos="7125">
          <p15:clr>
            <a:srgbClr val="547EBF"/>
          </p15:clr>
        </p15:guide>
        <p15:guide id="4" pos="820">
          <p15:clr>
            <a:srgbClr val="547EBF"/>
          </p15:clr>
        </p15:guide>
        <p15:guide id="5" orient="horz" pos="1571">
          <p15:clr>
            <a:srgbClr val="547EBF"/>
          </p15:clr>
        </p15:guide>
        <p15:guide id="6" orient="horz" pos="3295">
          <p15:clr>
            <a:srgbClr val="547EBF"/>
          </p15:clr>
        </p15:guide>
        <p15:guide id="7">
          <p15:clr>
            <a:srgbClr val="547EBF"/>
          </p15:clr>
        </p15:guide>
        <p15:guide id="8" pos="4177">
          <p15:clr>
            <a:srgbClr val="547EBF"/>
          </p15:clr>
        </p15:guide>
        <p15:guide id="9" orient="horz">
          <p15:clr>
            <a:srgbClr val="547EBF"/>
          </p15:clr>
        </p15:guide>
        <p15:guide id="10" orient="horz" pos="5184">
          <p15:clr>
            <a:srgbClr val="547EBF"/>
          </p15:clr>
        </p15:guide>
        <p15:guide id="11" orient="horz" pos="2116">
          <p15:clr>
            <a:srgbClr val="547EBF"/>
          </p15:clr>
        </p15:guide>
        <p15:guide id="12" orient="horz" pos="982">
          <p15:clr>
            <a:srgbClr val="A4A3A4"/>
          </p15:clr>
        </p15:guide>
        <p15:guide id="13" pos="4721">
          <p15:clr>
            <a:srgbClr val="A4A3A4"/>
          </p15:clr>
        </p15:guide>
        <p15:guide id="14" orient="horz" pos="1345">
          <p15:clr>
            <a:srgbClr val="A4A3A4"/>
          </p15:clr>
        </p15:guide>
        <p15:guide id="15" pos="4608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hCGlPmR+Rb8r47mFIh/DU/ZrAN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618324C-9923-4894-B9F2-2734E54E689B}">
  <a:tblStyle styleId="{0618324C-9923-4894-B9F2-2734E54E689B}" styleName="Table_0">
    <a:wholeTbl>
      <a:tcTxStyle b="off" i="off">
        <a:font>
          <a:latin typeface="Helvetica"/>
          <a:ea typeface="Helvetica"/>
          <a:cs typeface="Helvetic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7E8E7"/>
          </a:solidFill>
        </a:fill>
      </a:tcStyle>
    </a:wholeTbl>
    <a:band1H>
      <a:tcTxStyle/>
      <a:tcStyle>
        <a:tcBdr/>
        <a:fill>
          <a:solidFill>
            <a:srgbClr val="EFCE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FCE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140411D-4EDF-4E86-BB53-490C63ACEA8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11"/>
    <p:restoredTop sz="94626"/>
  </p:normalViewPr>
  <p:slideViewPr>
    <p:cSldViewPr snapToGrid="0">
      <p:cViewPr varScale="1">
        <p:scale>
          <a:sx n="87" d="100"/>
          <a:sy n="87" d="100"/>
        </p:scale>
        <p:origin x="776" y="192"/>
      </p:cViewPr>
      <p:guideLst>
        <p:guide orient="horz" pos="2479"/>
        <p:guide pos="4631"/>
        <p:guide pos="7125"/>
        <p:guide pos="820"/>
        <p:guide orient="horz" pos="1571"/>
        <p:guide orient="horz" pos="3295"/>
        <p:guide/>
        <p:guide pos="4177"/>
        <p:guide orient="horz"/>
        <p:guide orient="horz" pos="5184"/>
        <p:guide orient="horz" pos="2116"/>
        <p:guide orient="horz" pos="982"/>
        <p:guide pos="4721"/>
        <p:guide orient="horz" pos="1345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23" Type="http://schemas.openxmlformats.org/officeDocument/2006/relationships/presProps" Target="presProps.xml"/><Relationship Id="rId4" Type="http://schemas.openxmlformats.org/officeDocument/2006/relationships/slide" Target="slides/slide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0b0813aff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0b0813aff6_0_36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g10b0813aff6_0_36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0b0813aff6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0b0813aff6_0_7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10b0813aff6_0_7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0b0813aff6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0b0813aff6_0_2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g10b0813aff6_0_21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0b0813aff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0b0813aff6_0_0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g10b0813aff6_0_0:notes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1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_and_Content">
  <p:cSld name="1_Title_and_Conte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sldNum" idx="12"/>
          </p:nvPr>
        </p:nvSpPr>
        <p:spPr>
          <a:xfrm>
            <a:off x="13355485" y="7639734"/>
            <a:ext cx="771677" cy="438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title"/>
          </p:nvPr>
        </p:nvSpPr>
        <p:spPr>
          <a:xfrm>
            <a:off x="550050" y="181187"/>
            <a:ext cx="10879949" cy="82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body" idx="1"/>
          </p:nvPr>
        </p:nvSpPr>
        <p:spPr>
          <a:xfrm>
            <a:off x="549275" y="1306513"/>
            <a:ext cx="13577888" cy="192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/>
          <p:nvPr/>
        </p:nvSpPr>
        <p:spPr>
          <a:xfrm>
            <a:off x="-4255" y="0"/>
            <a:ext cx="14630402" cy="1325563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6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" name="Google Shape;23;p7"/>
          <p:cNvSpPr txBox="1">
            <a:spLocks noGrp="1"/>
          </p:cNvSpPr>
          <p:nvPr>
            <p:ph type="sldNum" idx="12"/>
          </p:nvPr>
        </p:nvSpPr>
        <p:spPr>
          <a:xfrm>
            <a:off x="13355485" y="7639734"/>
            <a:ext cx="771677" cy="438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400" b="1" i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lvl="1" indent="0" algn="r">
              <a:spcBef>
                <a:spcPts val="0"/>
              </a:spcBef>
              <a:buNone/>
              <a:defRPr sz="1400" b="1" i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lvl="2" indent="0" algn="r">
              <a:spcBef>
                <a:spcPts val="0"/>
              </a:spcBef>
              <a:buNone/>
              <a:defRPr sz="1400" b="1" i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lvl="3" indent="0" algn="r">
              <a:spcBef>
                <a:spcPts val="0"/>
              </a:spcBef>
              <a:buNone/>
              <a:defRPr sz="1400" b="1" i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lvl="4" indent="0" algn="r">
              <a:spcBef>
                <a:spcPts val="0"/>
              </a:spcBef>
              <a:buNone/>
              <a:defRPr sz="1400" b="1" i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lvl="5" indent="0" algn="r">
              <a:spcBef>
                <a:spcPts val="0"/>
              </a:spcBef>
              <a:buNone/>
              <a:defRPr sz="1400" b="1" i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lvl="6" indent="0" algn="r">
              <a:spcBef>
                <a:spcPts val="0"/>
              </a:spcBef>
              <a:buNone/>
              <a:defRPr sz="1400" b="1" i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lvl="7" indent="0" algn="r">
              <a:spcBef>
                <a:spcPts val="0"/>
              </a:spcBef>
              <a:buNone/>
              <a:defRPr sz="1400" b="1" i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lvl="8" indent="0" algn="r">
              <a:spcBef>
                <a:spcPts val="0"/>
              </a:spcBef>
              <a:buNone/>
              <a:defRPr sz="1400" b="1" i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>
  <p:cSld name="Titl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 txBox="1">
            <a:spLocks noGrp="1"/>
          </p:cNvSpPr>
          <p:nvPr>
            <p:ph type="sldNum" idx="12"/>
          </p:nvPr>
        </p:nvSpPr>
        <p:spPr>
          <a:xfrm>
            <a:off x="13355485" y="7639734"/>
            <a:ext cx="771677" cy="438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550050" y="181187"/>
            <a:ext cx="10879949" cy="82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">
  <p:cSld name="Title, subtit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13355485" y="7639734"/>
            <a:ext cx="771677" cy="438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549274" y="1159235"/>
            <a:ext cx="1088072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title"/>
          </p:nvPr>
        </p:nvSpPr>
        <p:spPr>
          <a:xfrm>
            <a:off x="550050" y="181187"/>
            <a:ext cx="10879949" cy="82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>
  <p:cSld name="Title,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>
            <a:spLocks noGrp="1"/>
          </p:cNvSpPr>
          <p:nvPr>
            <p:ph type="body" idx="1"/>
          </p:nvPr>
        </p:nvSpPr>
        <p:spPr>
          <a:xfrm>
            <a:off x="549275" y="1737043"/>
            <a:ext cx="135778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sldNum" idx="12"/>
          </p:nvPr>
        </p:nvSpPr>
        <p:spPr>
          <a:xfrm>
            <a:off x="13355485" y="7639734"/>
            <a:ext cx="771677" cy="438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550050" y="181187"/>
            <a:ext cx="10879949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, content">
  <p:cSld name="Title, subtitle,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 txBox="1">
            <a:spLocks noGrp="1"/>
          </p:cNvSpPr>
          <p:nvPr>
            <p:ph type="sldNum" idx="12"/>
          </p:nvPr>
        </p:nvSpPr>
        <p:spPr>
          <a:xfrm>
            <a:off x="13355485" y="7639734"/>
            <a:ext cx="771677" cy="438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550050" y="181187"/>
            <a:ext cx="10879949" cy="8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549275" y="1737043"/>
            <a:ext cx="135778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549274" y="1159235"/>
            <a:ext cx="1088072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_and_Content">
  <p:cSld name="2_Title_and_Conte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sldNum" idx="12"/>
          </p:nvPr>
        </p:nvSpPr>
        <p:spPr>
          <a:xfrm>
            <a:off x="13355485" y="7643192"/>
            <a:ext cx="771677" cy="438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549275" y="1306513"/>
            <a:ext cx="6765925" cy="6084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7567228" y="1306512"/>
            <a:ext cx="6765925" cy="6084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355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title"/>
          </p:nvPr>
        </p:nvSpPr>
        <p:spPr>
          <a:xfrm>
            <a:off x="550050" y="181187"/>
            <a:ext cx="10879949" cy="82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Blank Slide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sldNum" idx="12"/>
          </p:nvPr>
        </p:nvSpPr>
        <p:spPr>
          <a:xfrm>
            <a:off x="13355485" y="7643192"/>
            <a:ext cx="771677" cy="438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End slide">
  <p:cSld name="1_End slide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/>
          <p:nvPr/>
        </p:nvSpPr>
        <p:spPr>
          <a:xfrm>
            <a:off x="0" y="-17216"/>
            <a:ext cx="14630402" cy="8246815"/>
          </a:xfrm>
          <a:prstGeom prst="rect">
            <a:avLst/>
          </a:prstGeom>
          <a:solidFill>
            <a:srgbClr val="4247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6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sldNum" idx="12"/>
          </p:nvPr>
        </p:nvSpPr>
        <p:spPr>
          <a:xfrm>
            <a:off x="13355485" y="7639734"/>
            <a:ext cx="771677" cy="438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80" b="1" i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lvl="1" indent="0" algn="r">
              <a:spcBef>
                <a:spcPts val="0"/>
              </a:spcBef>
              <a:buNone/>
              <a:defRPr sz="1080" b="1" i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lvl="2" indent="0" algn="r">
              <a:spcBef>
                <a:spcPts val="0"/>
              </a:spcBef>
              <a:buNone/>
              <a:defRPr sz="1080" b="1" i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lvl="3" indent="0" algn="r">
              <a:spcBef>
                <a:spcPts val="0"/>
              </a:spcBef>
              <a:buNone/>
              <a:defRPr sz="1080" b="1" i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lvl="4" indent="0" algn="r">
              <a:spcBef>
                <a:spcPts val="0"/>
              </a:spcBef>
              <a:buNone/>
              <a:defRPr sz="1080" b="1" i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lvl="5" indent="0" algn="r">
              <a:spcBef>
                <a:spcPts val="0"/>
              </a:spcBef>
              <a:buNone/>
              <a:defRPr sz="1080" b="1" i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lvl="6" indent="0" algn="r">
              <a:spcBef>
                <a:spcPts val="0"/>
              </a:spcBef>
              <a:buNone/>
              <a:defRPr sz="1080" b="1" i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lvl="7" indent="0" algn="r">
              <a:spcBef>
                <a:spcPts val="0"/>
              </a:spcBef>
              <a:buNone/>
              <a:defRPr sz="1080" b="1" i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lvl="8" indent="0" algn="r">
              <a:spcBef>
                <a:spcPts val="0"/>
              </a:spcBef>
              <a:buNone/>
              <a:defRPr sz="1080" b="1" i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6"/>
          <p:cNvSpPr txBox="1">
            <a:spLocks noGrp="1"/>
          </p:cNvSpPr>
          <p:nvPr>
            <p:ph type="title"/>
          </p:nvPr>
        </p:nvSpPr>
        <p:spPr>
          <a:xfrm>
            <a:off x="731520" y="329565"/>
            <a:ext cx="13167360" cy="465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body" idx="1"/>
          </p:nvPr>
        </p:nvSpPr>
        <p:spPr>
          <a:xfrm>
            <a:off x="731521" y="2166652"/>
            <a:ext cx="64643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920"/>
              <a:buFont typeface="Helvetica Neue"/>
              <a:buNone/>
              <a:defRPr sz="192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920"/>
              <a:buFont typeface="Helvetica Neue"/>
              <a:buNone/>
              <a:defRPr sz="192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920"/>
              <a:buFont typeface="Helvetica Neue"/>
              <a:buNone/>
              <a:defRPr sz="192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920"/>
              <a:buFont typeface="Helvetica Neue"/>
              <a:buNone/>
              <a:defRPr sz="1920" b="1"/>
            </a:lvl9pPr>
          </a:lstStyle>
          <a:p>
            <a:endParaRPr/>
          </a:p>
        </p:txBody>
      </p:sp>
      <p:sp>
        <p:nvSpPr>
          <p:cNvPr id="54" name="Google Shape;54;p16"/>
          <p:cNvSpPr txBox="1">
            <a:spLocks noGrp="1"/>
          </p:cNvSpPr>
          <p:nvPr>
            <p:ph type="body" idx="2"/>
          </p:nvPr>
        </p:nvSpPr>
        <p:spPr>
          <a:xfrm>
            <a:off x="731521" y="2609850"/>
            <a:ext cx="6464300" cy="2248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41148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80"/>
              <a:buChar char="•"/>
              <a:defRPr sz="2880"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657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>
                <a:latin typeface="Arial"/>
                <a:ea typeface="Arial"/>
                <a:cs typeface="Arial"/>
                <a:sym typeface="Arial"/>
              </a:defRPr>
            </a:lvl3pPr>
            <a:lvl4pPr marL="1828800" lvl="3" indent="-35051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>
                <a:latin typeface="Arial"/>
                <a:ea typeface="Arial"/>
                <a:cs typeface="Arial"/>
                <a:sym typeface="Arial"/>
              </a:defRPr>
            </a:lvl4pPr>
            <a:lvl5pPr marL="2286000" lvl="4" indent="-3505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>
                <a:latin typeface="Arial"/>
                <a:ea typeface="Arial"/>
                <a:cs typeface="Arial"/>
                <a:sym typeface="Arial"/>
              </a:defRPr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92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92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92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920"/>
            </a:lvl9pPr>
          </a:lstStyle>
          <a:p>
            <a:endParaRPr/>
          </a:p>
        </p:txBody>
      </p:sp>
      <p:sp>
        <p:nvSpPr>
          <p:cNvPr id="55" name="Google Shape;55;p16"/>
          <p:cNvSpPr txBox="1">
            <a:spLocks noGrp="1"/>
          </p:cNvSpPr>
          <p:nvPr>
            <p:ph type="body" idx="3"/>
          </p:nvPr>
        </p:nvSpPr>
        <p:spPr>
          <a:xfrm>
            <a:off x="7432042" y="2166652"/>
            <a:ext cx="646684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80"/>
              <a:buNone/>
              <a:defRPr sz="2880" b="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2pPr>
            <a:lvl3pPr marL="1371600" lvl="2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60"/>
              <a:buNone/>
              <a:defRPr sz="2160" b="1"/>
            </a:lvl3pPr>
            <a:lvl4pPr marL="1828800" lvl="3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4pPr>
            <a:lvl5pPr marL="2286000" lvl="4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20"/>
              <a:buNone/>
              <a:defRPr sz="192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920"/>
              <a:buFont typeface="Helvetica Neue"/>
              <a:buNone/>
              <a:defRPr sz="192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920"/>
              <a:buFont typeface="Helvetica Neue"/>
              <a:buNone/>
              <a:defRPr sz="192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920"/>
              <a:buFont typeface="Helvetica Neue"/>
              <a:buNone/>
              <a:defRPr sz="192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920"/>
              <a:buFont typeface="Helvetica Neue"/>
              <a:buNone/>
              <a:defRPr sz="1920" b="1"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4"/>
          </p:nvPr>
        </p:nvSpPr>
        <p:spPr>
          <a:xfrm>
            <a:off x="7432042" y="2609850"/>
            <a:ext cx="6466840" cy="2248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41148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80"/>
              <a:buChar char="•"/>
              <a:defRPr sz="2880"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6576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>
                <a:latin typeface="Arial"/>
                <a:ea typeface="Arial"/>
                <a:cs typeface="Arial"/>
                <a:sym typeface="Arial"/>
              </a:defRPr>
            </a:lvl3pPr>
            <a:lvl4pPr marL="1828800" lvl="3" indent="-350519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>
                <a:latin typeface="Arial"/>
                <a:ea typeface="Arial"/>
                <a:cs typeface="Arial"/>
                <a:sym typeface="Arial"/>
              </a:defRPr>
            </a:lvl4pPr>
            <a:lvl5pPr marL="2286000" lvl="4" indent="-35052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>
                <a:latin typeface="Arial"/>
                <a:ea typeface="Arial"/>
                <a:cs typeface="Arial"/>
                <a:sym typeface="Arial"/>
              </a:defRPr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92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92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92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92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sldNum" idx="12"/>
          </p:nvPr>
        </p:nvSpPr>
        <p:spPr>
          <a:xfrm>
            <a:off x="13355485" y="7639734"/>
            <a:ext cx="771677" cy="438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80" b="1" i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lvl="1" indent="0" algn="r">
              <a:spcBef>
                <a:spcPts val="0"/>
              </a:spcBef>
              <a:buNone/>
              <a:defRPr sz="1080" b="1" i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lvl="2" indent="0" algn="r">
              <a:spcBef>
                <a:spcPts val="0"/>
              </a:spcBef>
              <a:buNone/>
              <a:defRPr sz="1080" b="1" i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lvl="3" indent="0" algn="r">
              <a:spcBef>
                <a:spcPts val="0"/>
              </a:spcBef>
              <a:buNone/>
              <a:defRPr sz="1080" b="1" i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lvl="4" indent="0" algn="r">
              <a:spcBef>
                <a:spcPts val="0"/>
              </a:spcBef>
              <a:buNone/>
              <a:defRPr sz="1080" b="1" i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lvl="5" indent="0" algn="r">
              <a:spcBef>
                <a:spcPts val="0"/>
              </a:spcBef>
              <a:buNone/>
              <a:defRPr sz="1080" b="1" i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lvl="6" indent="0" algn="r">
              <a:spcBef>
                <a:spcPts val="0"/>
              </a:spcBef>
              <a:buNone/>
              <a:defRPr sz="1080" b="1" i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lvl="7" indent="0" algn="r">
              <a:spcBef>
                <a:spcPts val="0"/>
              </a:spcBef>
              <a:buNone/>
              <a:defRPr sz="1080" b="1" i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lvl="8" indent="0" algn="r">
              <a:spcBef>
                <a:spcPts val="0"/>
              </a:spcBef>
              <a:buNone/>
              <a:defRPr sz="1080" b="1" i="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/>
          <p:nvPr/>
        </p:nvSpPr>
        <p:spPr>
          <a:xfrm>
            <a:off x="0" y="1005840"/>
            <a:ext cx="14630402" cy="707723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60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" name="Google Shape;11;p5"/>
          <p:cNvSpPr/>
          <p:nvPr/>
        </p:nvSpPr>
        <p:spPr>
          <a:xfrm>
            <a:off x="-2" y="8083070"/>
            <a:ext cx="14630402" cy="150339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16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5"/>
          <p:cNvSpPr txBox="1">
            <a:spLocks noGrp="1"/>
          </p:cNvSpPr>
          <p:nvPr>
            <p:ph type="title"/>
          </p:nvPr>
        </p:nvSpPr>
        <p:spPr>
          <a:xfrm>
            <a:off x="550050" y="181187"/>
            <a:ext cx="10879949" cy="82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900" b="0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body" idx="1"/>
          </p:nvPr>
        </p:nvSpPr>
        <p:spPr>
          <a:xfrm>
            <a:off x="550050" y="1326869"/>
            <a:ext cx="13577113" cy="1928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/>
          <p:nvPr/>
        </p:nvSpPr>
        <p:spPr>
          <a:xfrm>
            <a:off x="469854" y="8079262"/>
            <a:ext cx="2160000" cy="15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4776"/>
              </a:buClr>
              <a:buSzPts val="800"/>
              <a:buFont typeface="Helvetica Neue"/>
              <a:buNone/>
            </a:pPr>
            <a:r>
              <a:rPr lang="en-US" sz="800" b="0" i="0" u="none" strike="noStrike" cap="none">
                <a:solidFill>
                  <a:srgbClr val="2B4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© </a:t>
            </a:r>
            <a:r>
              <a:rPr lang="en-US" sz="800">
                <a:solidFill>
                  <a:srgbClr val="2B4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Sharealedger, NFP</a:t>
            </a:r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sldNum" idx="12"/>
          </p:nvPr>
        </p:nvSpPr>
        <p:spPr>
          <a:xfrm>
            <a:off x="13355485" y="7639734"/>
            <a:ext cx="771677" cy="438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r" rtl="0">
              <a:spcBef>
                <a:spcPts val="0"/>
              </a:spcBef>
              <a:buNone/>
              <a:defRPr sz="1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5"/>
          <p:cNvSpPr txBox="1"/>
          <p:nvPr/>
        </p:nvSpPr>
        <p:spPr>
          <a:xfrm>
            <a:off x="5355161" y="7987800"/>
            <a:ext cx="3966900" cy="2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4776"/>
              </a:buClr>
              <a:buSzPts val="800"/>
              <a:buFont typeface="Helvetica Neue"/>
              <a:buNone/>
            </a:pPr>
            <a:r>
              <a:rPr lang="en-US" sz="800">
                <a:solidFill>
                  <a:srgbClr val="2B4776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Content  Shared Under Sharealedger Specified Licenses.  See Sharealedger.org</a:t>
            </a:r>
            <a:endParaRPr sz="8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10">
          <p15:clr>
            <a:srgbClr val="F26B43"/>
          </p15:clr>
        </p15:guide>
        <p15:guide id="2" pos="346">
          <p15:clr>
            <a:srgbClr val="F26B43"/>
          </p15:clr>
        </p15:guide>
        <p15:guide id="3" pos="8899">
          <p15:clr>
            <a:srgbClr val="F26B43"/>
          </p15:clr>
        </p15:guide>
        <p15:guide id="4" orient="horz" pos="835">
          <p15:clr>
            <a:srgbClr val="F26B43"/>
          </p15:clr>
        </p15:guide>
        <p15:guide id="5" pos="8645">
          <p15:clr>
            <a:srgbClr val="F26B43"/>
          </p15:clr>
        </p15:guide>
        <p15:guide id="6" pos="109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0b0813aff6_0_36"/>
          <p:cNvSpPr txBox="1">
            <a:spLocks noGrp="1"/>
          </p:cNvSpPr>
          <p:nvPr>
            <p:ph type="sldNum" idx="12"/>
          </p:nvPr>
        </p:nvSpPr>
        <p:spPr>
          <a:xfrm>
            <a:off x="13355485" y="7639734"/>
            <a:ext cx="771600" cy="438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64" name="Google Shape;64;g10b0813aff6_0_36"/>
          <p:cNvSpPr txBox="1">
            <a:spLocks noGrp="1"/>
          </p:cNvSpPr>
          <p:nvPr>
            <p:ph type="title" idx="4294967295"/>
          </p:nvPr>
        </p:nvSpPr>
        <p:spPr>
          <a:xfrm>
            <a:off x="550050" y="181187"/>
            <a:ext cx="10879800" cy="82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Shared Ledger Concepts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January 2022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"/>
          <p:cNvSpPr txBox="1">
            <a:spLocks noGrp="1"/>
          </p:cNvSpPr>
          <p:nvPr>
            <p:ph type="title"/>
          </p:nvPr>
        </p:nvSpPr>
        <p:spPr>
          <a:xfrm>
            <a:off x="550050" y="181187"/>
            <a:ext cx="10879949" cy="82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Consolidated Reporting  and Other Points</a:t>
            </a:r>
            <a:endParaRPr/>
          </a:p>
        </p:txBody>
      </p:sp>
      <p:sp>
        <p:nvSpPr>
          <p:cNvPr id="161" name="Google Shape;161;p4"/>
          <p:cNvSpPr txBox="1">
            <a:spLocks noGrp="1"/>
          </p:cNvSpPr>
          <p:nvPr>
            <p:ph type="body" idx="1"/>
          </p:nvPr>
        </p:nvSpPr>
        <p:spPr>
          <a:xfrm>
            <a:off x="11167628" y="4114800"/>
            <a:ext cx="2502496" cy="184665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/>
              <a:t>Reports generation (or regeneration if marginal updates are used for efficiencies) requires reading all data in all partitions</a:t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3555735" y="1879094"/>
            <a:ext cx="1260140" cy="936104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9341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Tom-Jay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Shared Privately</a:t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3555735" y="3031222"/>
            <a:ext cx="1260140" cy="936104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9341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Tom-Dick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Shared Privately</a:t>
            </a:r>
            <a:endParaRPr/>
          </a:p>
        </p:txBody>
      </p:sp>
      <p:sp>
        <p:nvSpPr>
          <p:cNvPr id="164" name="Google Shape;164;p4"/>
          <p:cNvSpPr/>
          <p:nvPr/>
        </p:nvSpPr>
        <p:spPr>
          <a:xfrm>
            <a:off x="3560957" y="4183350"/>
            <a:ext cx="1260140" cy="936104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9341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Tom-Ned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Shared Publicly</a:t>
            </a:r>
            <a:endParaRPr/>
          </a:p>
        </p:txBody>
      </p:sp>
      <p:sp>
        <p:nvSpPr>
          <p:cNvPr id="165" name="Google Shape;165;p4"/>
          <p:cNvSpPr/>
          <p:nvPr/>
        </p:nvSpPr>
        <p:spPr>
          <a:xfrm>
            <a:off x="7883823" y="1879094"/>
            <a:ext cx="1260140" cy="936104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9341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Tom’s Individual Ledger</a:t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3570784" y="5371482"/>
            <a:ext cx="1260140" cy="936104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9341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Tom-Fred- Ned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Grouped</a:t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5719779" y="1879094"/>
            <a:ext cx="1260140" cy="936104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9341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Tom’s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Private</a:t>
            </a:r>
            <a:endParaRPr/>
          </a:p>
        </p:txBody>
      </p:sp>
      <p:sp>
        <p:nvSpPr>
          <p:cNvPr id="168" name="Google Shape;168;p4"/>
          <p:cNvSpPr/>
          <p:nvPr/>
        </p:nvSpPr>
        <p:spPr>
          <a:xfrm>
            <a:off x="5719779" y="3031222"/>
            <a:ext cx="1260140" cy="936104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9341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Tom’s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Private</a:t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5719779" y="4183350"/>
            <a:ext cx="1260140" cy="936104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9341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Tom’s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Private</a:t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5719779" y="5335478"/>
            <a:ext cx="1260140" cy="936104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9341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Tom’s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Private</a:t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9885807" y="6818058"/>
            <a:ext cx="1900688" cy="936104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9341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Consolidated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Report</a:t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1878596" y="1044586"/>
            <a:ext cx="9001000" cy="6595148"/>
          </a:xfrm>
          <a:prstGeom prst="ellipse">
            <a:avLst/>
          </a:prstGeom>
          <a:noFill/>
          <a:ln w="25400" cap="flat" cmpd="sng">
            <a:solidFill>
              <a:srgbClr val="99341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73" name="Google Shape;173;p4"/>
          <p:cNvCxnSpPr>
            <a:stCxn id="172" idx="4"/>
            <a:endCxn id="171" idx="1"/>
          </p:cNvCxnSpPr>
          <p:nvPr/>
        </p:nvCxnSpPr>
        <p:spPr>
          <a:xfrm rot="10800000" flipH="1">
            <a:off x="6379096" y="7286034"/>
            <a:ext cx="3506700" cy="353700"/>
          </a:xfrm>
          <a:prstGeom prst="straightConnector1">
            <a:avLst/>
          </a:prstGeom>
          <a:noFill/>
          <a:ln w="9525" cap="flat" cmpd="sng">
            <a:solidFill>
              <a:srgbClr val="D2431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4" name="Google Shape;174;p4"/>
          <p:cNvSpPr/>
          <p:nvPr/>
        </p:nvSpPr>
        <p:spPr>
          <a:xfrm>
            <a:off x="7883823" y="5839534"/>
            <a:ext cx="1260140" cy="936104"/>
          </a:xfrm>
          <a:prstGeom prst="rect">
            <a:avLst/>
          </a:prstGeom>
          <a:solidFill>
            <a:schemeClr val="accent1"/>
          </a:solidFill>
          <a:ln w="25400" cap="flat" cmpd="sng">
            <a:solidFill>
              <a:srgbClr val="99341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Non-Shared</a:t>
            </a:r>
            <a:endParaRPr/>
          </a:p>
        </p:txBody>
      </p:sp>
      <p:sp>
        <p:nvSpPr>
          <p:cNvPr id="175" name="Google Shape;175;p4"/>
          <p:cNvSpPr txBox="1"/>
          <p:nvPr/>
        </p:nvSpPr>
        <p:spPr>
          <a:xfrm rot="5400000">
            <a:off x="13077080" y="6766196"/>
            <a:ext cx="264207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Slide Developed Mar 13, 2020</a:t>
            </a:r>
            <a:endParaRPr/>
          </a:p>
        </p:txBody>
      </p:sp>
      <p:sp>
        <p:nvSpPr>
          <p:cNvPr id="176" name="Google Shape;176;p4"/>
          <p:cNvSpPr txBox="1"/>
          <p:nvPr/>
        </p:nvSpPr>
        <p:spPr>
          <a:xfrm>
            <a:off x="10249308" y="1312634"/>
            <a:ext cx="2502496" cy="153888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individual ledger may be maintained for aggregated, or internal only transactions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7650483" y="3826768"/>
            <a:ext cx="2502496" cy="184665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partition of this internal ledger may be for transactions with infrequent trading partners, maintained like today’s books</a:t>
            </a:r>
            <a:endParaRPr/>
          </a:p>
        </p:txBody>
      </p:sp>
      <p:sp>
        <p:nvSpPr>
          <p:cNvPr id="178" name="Google Shape;178;p4"/>
          <p:cNvSpPr txBox="1"/>
          <p:nvPr/>
        </p:nvSpPr>
        <p:spPr>
          <a:xfrm>
            <a:off x="408456" y="1337841"/>
            <a:ext cx="2502497" cy="400109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Shared partitions may be shared Privately or Publicly.  For example, a Not For Profit may chose to make its books completely public.  Venmo’s public sharing of financial data and blockchains openness may suggest trends in this space.</a:t>
            </a:r>
            <a:endParaRPr/>
          </a:p>
        </p:txBody>
      </p:sp>
      <p:cxnSp>
        <p:nvCxnSpPr>
          <p:cNvPr id="179" name="Google Shape;179;p4"/>
          <p:cNvCxnSpPr>
            <a:stCxn id="161" idx="2"/>
          </p:cNvCxnSpPr>
          <p:nvPr/>
        </p:nvCxnSpPr>
        <p:spPr>
          <a:xfrm flipH="1">
            <a:off x="11995576" y="5961459"/>
            <a:ext cx="423300" cy="8142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0" name="Google Shape;180;p4"/>
          <p:cNvCxnSpPr>
            <a:stCxn id="176" idx="1"/>
          </p:cNvCxnSpPr>
          <p:nvPr/>
        </p:nvCxnSpPr>
        <p:spPr>
          <a:xfrm flipH="1">
            <a:off x="9443508" y="2082076"/>
            <a:ext cx="805800" cy="2652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1" name="Google Shape;181;p4"/>
          <p:cNvCxnSpPr/>
          <p:nvPr/>
        </p:nvCxnSpPr>
        <p:spPr>
          <a:xfrm flipH="1">
            <a:off x="9205930" y="5699347"/>
            <a:ext cx="805849" cy="26507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2" name="Google Shape;182;p4"/>
          <p:cNvCxnSpPr>
            <a:stCxn id="178" idx="3"/>
          </p:cNvCxnSpPr>
          <p:nvPr/>
        </p:nvCxnSpPr>
        <p:spPr>
          <a:xfrm>
            <a:off x="2910953" y="3338389"/>
            <a:ext cx="493200" cy="1313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3" name="Google Shape;183;p4"/>
          <p:cNvCxnSpPr>
            <a:stCxn id="178" idx="3"/>
          </p:cNvCxnSpPr>
          <p:nvPr/>
        </p:nvCxnSpPr>
        <p:spPr>
          <a:xfrm>
            <a:off x="2910953" y="3338389"/>
            <a:ext cx="493200" cy="1284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4" name="Google Shape;184;p4"/>
          <p:cNvSpPr txBox="1"/>
          <p:nvPr/>
        </p:nvSpPr>
        <p:spPr>
          <a:xfrm>
            <a:off x="2145365" y="6672563"/>
            <a:ext cx="2752746" cy="92333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Some partitions may include more than one counterparty</a:t>
            </a:r>
            <a:endParaRPr/>
          </a:p>
        </p:txBody>
      </p:sp>
      <p:cxnSp>
        <p:nvCxnSpPr>
          <p:cNvPr id="185" name="Google Shape;185;p4"/>
          <p:cNvCxnSpPr>
            <a:stCxn id="184" idx="0"/>
          </p:cNvCxnSpPr>
          <p:nvPr/>
        </p:nvCxnSpPr>
        <p:spPr>
          <a:xfrm rot="10800000" flipH="1">
            <a:off x="3521738" y="6397463"/>
            <a:ext cx="229200" cy="2751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6" name="Google Shape;186;p4"/>
          <p:cNvCxnSpPr>
            <a:stCxn id="178" idx="3"/>
          </p:cNvCxnSpPr>
          <p:nvPr/>
        </p:nvCxnSpPr>
        <p:spPr>
          <a:xfrm rot="10800000" flipH="1">
            <a:off x="2910953" y="2530489"/>
            <a:ext cx="493200" cy="8079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87" name="Google Shape;187;p4"/>
          <p:cNvSpPr txBox="1">
            <a:spLocks noGrp="1"/>
          </p:cNvSpPr>
          <p:nvPr>
            <p:ph type="sldNum" idx="12"/>
          </p:nvPr>
        </p:nvSpPr>
        <p:spPr>
          <a:xfrm>
            <a:off x="13355485" y="7639734"/>
            <a:ext cx="771677" cy="438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b0813aff6_0_7"/>
          <p:cNvSpPr txBox="1">
            <a:spLocks noGrp="1"/>
          </p:cNvSpPr>
          <p:nvPr>
            <p:ph type="sldNum" idx="12"/>
          </p:nvPr>
        </p:nvSpPr>
        <p:spPr>
          <a:xfrm>
            <a:off x="13355485" y="7639734"/>
            <a:ext cx="771600" cy="438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01" name="Google Shape;201;g10b0813aff6_0_7"/>
          <p:cNvSpPr txBox="1">
            <a:spLocks noGrp="1"/>
          </p:cNvSpPr>
          <p:nvPr>
            <p:ph type="title"/>
          </p:nvPr>
        </p:nvSpPr>
        <p:spPr>
          <a:xfrm>
            <a:off x="550050" y="181187"/>
            <a:ext cx="10879800" cy="82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Simple Example:  Company Issued Credit Card</a:t>
            </a:r>
            <a:endParaRPr/>
          </a:p>
        </p:txBody>
      </p:sp>
      <p:sp>
        <p:nvSpPr>
          <p:cNvPr id="202" name="Google Shape;202;g10b0813aff6_0_7"/>
          <p:cNvSpPr txBox="1">
            <a:spLocks noGrp="1"/>
          </p:cNvSpPr>
          <p:nvPr>
            <p:ph type="body" idx="1"/>
          </p:nvPr>
        </p:nvSpPr>
        <p:spPr>
          <a:xfrm>
            <a:off x="514114" y="1306513"/>
            <a:ext cx="135780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Many companies today issue credit cards to employees.  Quite frequently, this results in multiple ledgers</a:t>
            </a:r>
            <a:endParaRPr/>
          </a:p>
        </p:txBody>
      </p:sp>
      <p:sp>
        <p:nvSpPr>
          <p:cNvPr id="203" name="Google Shape;203;g10b0813aff6_0_7"/>
          <p:cNvSpPr txBox="1"/>
          <p:nvPr/>
        </p:nvSpPr>
        <p:spPr>
          <a:xfrm>
            <a:off x="1352725" y="3553550"/>
            <a:ext cx="3429900" cy="615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My Personal Financial Records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4" name="Google Shape;204;g10b0813aff6_0_7"/>
          <p:cNvSpPr txBox="1"/>
          <p:nvPr/>
        </p:nvSpPr>
        <p:spPr>
          <a:xfrm>
            <a:off x="1352725" y="4169150"/>
            <a:ext cx="3429900" cy="615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credit card company ledger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5" name="Google Shape;205;g10b0813aff6_0_7"/>
          <p:cNvSpPr txBox="1"/>
          <p:nvPr/>
        </p:nvSpPr>
        <p:spPr>
          <a:xfrm>
            <a:off x="1352725" y="4784750"/>
            <a:ext cx="3429900" cy="615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employer reimbursement ledger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6" name="Google Shape;206;g10b0813aff6_0_7"/>
          <p:cNvSpPr txBox="1"/>
          <p:nvPr/>
        </p:nvSpPr>
        <p:spPr>
          <a:xfrm>
            <a:off x="5779650" y="4061200"/>
            <a:ext cx="3429900" cy="6156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Shared Ledger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7" name="Google Shape;207;g10b0813aff6_0_7"/>
          <p:cNvSpPr txBox="1"/>
          <p:nvPr/>
        </p:nvSpPr>
        <p:spPr>
          <a:xfrm>
            <a:off x="9925575" y="3511550"/>
            <a:ext cx="3429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Personal Analysis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8" name="Google Shape;208;g10b0813aff6_0_7"/>
          <p:cNvSpPr txBox="1"/>
          <p:nvPr/>
        </p:nvSpPr>
        <p:spPr>
          <a:xfrm>
            <a:off x="9925575" y="4142250"/>
            <a:ext cx="3429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CC Company Analysis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9" name="Google Shape;209;g10b0813aff6_0_7"/>
          <p:cNvSpPr txBox="1"/>
          <p:nvPr/>
        </p:nvSpPr>
        <p:spPr>
          <a:xfrm>
            <a:off x="9925575" y="4772950"/>
            <a:ext cx="3429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Employer Analysis</a:t>
            </a: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0" name="Google Shape;210;g10b0813aff6_0_7"/>
          <p:cNvSpPr txBox="1"/>
          <p:nvPr/>
        </p:nvSpPr>
        <p:spPr>
          <a:xfrm>
            <a:off x="818450" y="2472250"/>
            <a:ext cx="44817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Today’s Existing Ledgers</a:t>
            </a:r>
            <a:endParaRPr sz="19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1" name="Google Shape;211;g10b0813aff6_0_7"/>
          <p:cNvSpPr txBox="1"/>
          <p:nvPr/>
        </p:nvSpPr>
        <p:spPr>
          <a:xfrm>
            <a:off x="5443875" y="2472250"/>
            <a:ext cx="42306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Shared Ledger</a:t>
            </a:r>
            <a:endParaRPr sz="19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Must Be Lower Costs</a:t>
            </a:r>
            <a:endParaRPr sz="19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2" name="Google Shape;212;g10b0813aff6_0_7"/>
          <p:cNvSpPr txBox="1"/>
          <p:nvPr/>
        </p:nvSpPr>
        <p:spPr>
          <a:xfrm>
            <a:off x="9296400" y="2472250"/>
            <a:ext cx="44817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accen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Particularly If It Provides Enhanced Analytics for All Parties</a:t>
            </a:r>
            <a:endParaRPr sz="1900">
              <a:solidFill>
                <a:schemeClr val="accen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213" name="Google Shape;213;g10b0813aff6_0_7"/>
          <p:cNvCxnSpPr/>
          <p:nvPr/>
        </p:nvCxnSpPr>
        <p:spPr>
          <a:xfrm rot="10800000" flipH="1">
            <a:off x="9234300" y="3668900"/>
            <a:ext cx="1332000" cy="699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4" name="Google Shape;214;g10b0813aff6_0_7"/>
          <p:cNvCxnSpPr/>
          <p:nvPr/>
        </p:nvCxnSpPr>
        <p:spPr>
          <a:xfrm>
            <a:off x="9209550" y="4369000"/>
            <a:ext cx="1401900" cy="11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5" name="Google Shape;215;g10b0813aff6_0_7"/>
          <p:cNvCxnSpPr/>
          <p:nvPr/>
        </p:nvCxnSpPr>
        <p:spPr>
          <a:xfrm>
            <a:off x="9244500" y="4368800"/>
            <a:ext cx="1378500" cy="530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0b0813aff6_0_21"/>
          <p:cNvSpPr txBox="1">
            <a:spLocks noGrp="1"/>
          </p:cNvSpPr>
          <p:nvPr>
            <p:ph type="sldNum" idx="12"/>
          </p:nvPr>
        </p:nvSpPr>
        <p:spPr>
          <a:xfrm>
            <a:off x="13355485" y="7639734"/>
            <a:ext cx="771600" cy="438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22" name="Google Shape;222;g10b0813aff6_0_21"/>
          <p:cNvSpPr txBox="1">
            <a:spLocks noGrp="1"/>
          </p:cNvSpPr>
          <p:nvPr>
            <p:ph type="title"/>
          </p:nvPr>
        </p:nvSpPr>
        <p:spPr>
          <a:xfrm>
            <a:off x="550050" y="181187"/>
            <a:ext cx="10879800" cy="82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Potential Attribute List</a:t>
            </a:r>
            <a:endParaRPr/>
          </a:p>
        </p:txBody>
      </p:sp>
      <p:sp>
        <p:nvSpPr>
          <p:cNvPr id="223" name="Google Shape;223;g10b0813aff6_0_21"/>
          <p:cNvSpPr txBox="1">
            <a:spLocks noGrp="1"/>
          </p:cNvSpPr>
          <p:nvPr>
            <p:ph type="body" idx="1"/>
          </p:nvPr>
        </p:nvSpPr>
        <p:spPr>
          <a:xfrm>
            <a:off x="549275" y="1306513"/>
            <a:ext cx="13578000" cy="307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 shared ledger might simply include (without duplication) all tributes from all three ledgers…</a:t>
            </a:r>
            <a:endParaRPr/>
          </a:p>
        </p:txBody>
      </p:sp>
      <p:graphicFrame>
        <p:nvGraphicFramePr>
          <p:cNvPr id="224" name="Google Shape;224;g10b0813aff6_0_21"/>
          <p:cNvGraphicFramePr/>
          <p:nvPr/>
        </p:nvGraphicFramePr>
        <p:xfrm>
          <a:off x="1110100" y="2135200"/>
          <a:ext cx="9020175" cy="5297550"/>
        </p:xfrm>
        <a:graphic>
          <a:graphicData uri="http://schemas.openxmlformats.org/drawingml/2006/table">
            <a:tbl>
              <a:tblPr>
                <a:noFill/>
                <a:tableStyleId>{9140411D-4EDF-4E86-BB53-490C63ACEA87}</a:tableStyleId>
              </a:tblPr>
              <a:tblGrid>
                <a:gridCol w="1533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1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81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Date</a:t>
                      </a:r>
                      <a:endParaRPr sz="11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Account</a:t>
                      </a:r>
                      <a:endParaRPr sz="11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Num</a:t>
                      </a:r>
                      <a:endParaRPr sz="11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Description</a:t>
                      </a:r>
                      <a:endParaRPr sz="11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Memo</a:t>
                      </a:r>
                      <a:endParaRPr sz="11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Category</a:t>
                      </a:r>
                      <a:endParaRPr sz="11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Tag</a:t>
                      </a:r>
                      <a:endParaRPr sz="11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Clr</a:t>
                      </a:r>
                      <a:endParaRPr sz="11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Amount</a:t>
                      </a:r>
                      <a:endParaRPr sz="1100" b="1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7/5/98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 Expense Card2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United Airlines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 Troy D 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[Firm Expenses]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-745.50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7/30/98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 Expense Card2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Marriott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Chicago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[Firm Expenses]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-249.61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7/31/98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 Expense Card2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Palmer House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Dad's Expenses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-5.50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8/7/98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 Expense Card2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Marriott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Chicago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[Firm Expenses]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-162.00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8/12/98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 Expense Card2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american airlines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 Minneapolis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[Firm Expenses]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-593.92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8/12/98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 Expense Card2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United Airlines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 Philadelphia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[Firm Expenses]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-745.50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8/21/98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 Expense Card2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Golden Sea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dinner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Dad's Expenses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-32.00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8/22/98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 Expense Card2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Hilton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[Firm Expenses]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-234.59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8/22/98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 Expense Card2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budget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 rental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[Firm Expenses]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-110.56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9/1/98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 Expense Card2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 Expense Card2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[Bank2 Checking]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1,000.61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9/17/98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 Expense Card2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american airlines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[Firm Expenses]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-273.40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9/17/98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 Expense Card2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Buy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software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[Firm Expenses]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-203.29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9/17/98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 Expense Card2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Intersolv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software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[Firm Expenses]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-1,306.00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9/17/98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 Expense Card2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Intersolv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software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[Firm Expenses]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-806.00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9/22/98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 Expense Card2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hyatt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[Firm Expenses]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-150.99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10/1/98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 Expense Card2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 gridSpan="2"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Company Expense Card2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[Bank2 Checking]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1,878.57</a:t>
                      </a:r>
                      <a:endParaRPr sz="11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425" anchor="b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225" name="Google Shape;225;g10b0813aff6_0_21"/>
          <p:cNvSpPr txBox="1"/>
          <p:nvPr/>
        </p:nvSpPr>
        <p:spPr>
          <a:xfrm>
            <a:off x="666024" y="7635875"/>
            <a:ext cx="1260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See working example at: https://docs.google.com/spreadsheets/d/19bc1mDnuH-8D73iWBfOQZq7DvYeFriXySPck9Tv4ZuE/edit#gid=1675298952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0b0813aff6_0_0"/>
          <p:cNvSpPr txBox="1">
            <a:spLocks noGrp="1"/>
          </p:cNvSpPr>
          <p:nvPr>
            <p:ph type="sldNum" idx="12"/>
          </p:nvPr>
        </p:nvSpPr>
        <p:spPr>
          <a:xfrm>
            <a:off x="13355485" y="7639734"/>
            <a:ext cx="771600" cy="4386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239" name="Google Shape;239;g10b0813aff6_0_0"/>
          <p:cNvSpPr txBox="1">
            <a:spLocks noGrp="1"/>
          </p:cNvSpPr>
          <p:nvPr>
            <p:ph type="title"/>
          </p:nvPr>
        </p:nvSpPr>
        <p:spPr>
          <a:xfrm>
            <a:off x="550050" y="181187"/>
            <a:ext cx="10879800" cy="82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Ade’s Take on Objectives of a Shared Ledger</a:t>
            </a:r>
            <a:endParaRPr/>
          </a:p>
        </p:txBody>
      </p:sp>
      <p:sp>
        <p:nvSpPr>
          <p:cNvPr id="240" name="Google Shape;240;g10b0813aff6_0_0"/>
          <p:cNvSpPr txBox="1">
            <a:spLocks noGrp="1"/>
          </p:cNvSpPr>
          <p:nvPr>
            <p:ph type="body" idx="1"/>
          </p:nvPr>
        </p:nvSpPr>
        <p:spPr>
          <a:xfrm>
            <a:off x="549275" y="1306513"/>
            <a:ext cx="13578000" cy="6952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What is the value of a shared ledger</a:t>
            </a:r>
            <a:endParaRPr/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Truth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Trust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Timely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Thrive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From a business perspective, there is difference between:</a:t>
            </a:r>
            <a:endParaRPr/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Transactions (Kip would use the words as Business Event)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Analytics (Balances or positions at a moment in time)</a:t>
            </a:r>
            <a:endParaRPr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Value from analytics will reduce cost, but will be have to be proven to people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Consider use of term payment ledger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Accounting is historical, but greater value will come from being Prospective, not just in the past</a:t>
            </a:r>
            <a:endParaRPr/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Before payment, someone plans a payment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Looking at what payment is needed, and the impacts of those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Attributes that would be helpful in this</a:t>
            </a:r>
            <a:endParaRPr/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Who, What, Where, How Much</a:t>
            </a:r>
            <a:endParaRPr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Multiple whens:  Date commitment made (transactions), Due date, How Often, End (or renewal) Date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Make it real time payment (request to pay), for real-time payment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(From discussion January 13, 2022)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arealedger">
  <a:themeElements>
    <a:clrScheme name="Orange Red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651</Words>
  <Application>Microsoft Macintosh PowerPoint</Application>
  <PresentationFormat>Custom</PresentationFormat>
  <Paragraphs>188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Arial</vt:lpstr>
      <vt:lpstr>Helvetica Neue</vt:lpstr>
      <vt:lpstr>Sharealedger</vt:lpstr>
      <vt:lpstr>Shared Ledger Concepts January 2022</vt:lpstr>
      <vt:lpstr>Consolidated Reporting  and Other Points</vt:lpstr>
      <vt:lpstr>A Simple Example:  Company Issued Credit Card</vt:lpstr>
      <vt:lpstr>Potential Attribute List</vt:lpstr>
      <vt:lpstr>Ade’s Take on Objectives of a Shared Ledger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Kip Twitchell</cp:lastModifiedBy>
  <cp:revision>2</cp:revision>
  <dcterms:created xsi:type="dcterms:W3CDTF">2017-10-15T17:28:19Z</dcterms:created>
  <dcterms:modified xsi:type="dcterms:W3CDTF">2026-10-01T03:51:49Z</dcterms:modified>
</cp:coreProperties>
</file>